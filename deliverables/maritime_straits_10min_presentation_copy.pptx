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3333333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685800" y="1143000"/>
            <a:ext cx="106070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3600" b="1">
                <a:solidFill>
                  <a:srgbClr val="0F172A"/>
                </a:solidFill>
              </a:rPr>
              <a:t>Fermeture des détroits maritimes</a:t>
            </a:r>
            <a:endParaRPr lang="fr-FR" sz="3600"/>
          </a:p>
        </p:txBody>
      </p:sp>
      <p:sp>
        <p:nvSpPr>
          <p:cNvPr id="3" name="TextBox 3"/>
          <p:cNvSpPr txBox="1"/>
          <p:nvPr/>
        </p:nvSpPr>
        <p:spPr>
          <a:xfrm>
            <a:off x="713232" y="1901952"/>
            <a:ext cx="102412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2400" b="0">
                <a:solidFill>
                  <a:srgbClr val="334155"/>
                </a:solidFill>
              </a:rPr>
              <a:t>Simulation d'impact sur les grands chokepoints mondiaux</a:t>
            </a:r>
            <a:endParaRPr lang="fr-FR" sz="2400"/>
          </a:p>
        </p:txBody>
      </p:sp>
      <p:sp>
        <p:nvSpPr>
          <p:cNvPr id="4" name="TextBox 4"/>
          <p:cNvSpPr txBox="1"/>
          <p:nvPr/>
        </p:nvSpPr>
        <p:spPr>
          <a:xfrm>
            <a:off x="713232" y="2971800"/>
            <a:ext cx="98755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2100" b="0">
                <a:solidFill>
                  <a:srgbClr val="1F2937"/>
                </a:solidFill>
              </a:rPr>
              <a:t>Objectif : identifier les détroits les plus critiques et estimer comment une fermeture de 14, 30 ou 90 jours peut déplacer le trafic maritime.</a:t>
            </a:r>
            <a:endParaRPr lang="fr-FR" sz="2100"/>
          </a:p>
        </p:txBody>
      </p:sp>
      <p:sp>
        <p:nvSpPr>
          <p:cNvPr id="5" name="TextBox 5"/>
          <p:cNvSpPr txBox="1"/>
          <p:nvPr/>
        </p:nvSpPr>
        <p:spPr>
          <a:xfrm>
            <a:off x="713232" y="589788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300" b="0">
                <a:solidFill>
                  <a:srgbClr val="64748B"/>
                </a:solidFill>
              </a:rPr>
              <a:t>Projet ML - PortWatch AIS - Présentation 10 minutes</a:t>
            </a:r>
            <a:endParaRPr lang="fr-FR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3000" b="1">
                <a:solidFill>
                  <a:srgbClr val="0F172A"/>
                </a:solidFill>
              </a:rPr>
              <a:t>Problématique concrète</a:t>
            </a:r>
            <a:endParaRPr lang="fr-FR" sz="3000"/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400" b="0">
                <a:solidFill>
                  <a:srgbClr val="64748B"/>
                </a:solidFill>
              </a:rPr>
              <a:t>Une fermeture ne touche pas seulement le détroit fermé : elle peut saturer ou déplacer le trafic ailleurs.</a:t>
            </a:r>
            <a:endParaRPr lang="fr-FR" sz="1400"/>
          </a:p>
        </p:txBody>
      </p:sp>
      <p:sp>
        <p:nvSpPr>
          <p:cNvPr id="4" name="TextBox 4"/>
          <p:cNvSpPr txBox="1"/>
          <p:nvPr/>
        </p:nvSpPr>
        <p:spPr>
          <a:xfrm>
            <a:off x="685800" y="1600200"/>
            <a:ext cx="1078992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800" b="0">
                <a:solidFill>
                  <a:srgbClr val="1F2937"/>
                </a:solidFill>
              </a:rPr>
              <a:t>• Quels détroits sont les plus critiques dans le réseau maritime mondial ?</a:t>
            </a:r>
            <a:endParaRPr lang="fr-FR" sz="1800"/>
          </a:p>
          <a:p>
            <a:r>
              <a:rPr lang="fr-FR" sz="1800" b="0">
                <a:solidFill>
                  <a:srgbClr val="1F2937"/>
                </a:solidFill>
              </a:rPr>
              <a:t>• Si l'un des grands détroits ferme, quels autres détroits changent réellement ?</a:t>
            </a:r>
            <a:endParaRPr lang="fr-FR" sz="1800"/>
          </a:p>
          <a:p>
            <a:r>
              <a:rPr lang="fr-FR" sz="1800" b="0">
                <a:solidFill>
                  <a:srgbClr val="1F2937"/>
                </a:solidFill>
              </a:rPr>
              <a:t>• Sur 2 semaines, 1 mois et 3 mois, observe-t-on un choc ponctuel ou une nouvelle trajectoire ?</a:t>
            </a:r>
            <a:endParaRPr lang="fr-FR" sz="1800"/>
          </a:p>
        </p:txBody>
      </p:sp>
      <p:sp>
        <p:nvSpPr>
          <p:cNvPr id="5" name="TextBox 5"/>
          <p:cNvSpPr txBox="1"/>
          <p:nvPr/>
        </p:nvSpPr>
        <p:spPr>
          <a:xfrm>
            <a:off x="731520" y="4343400"/>
            <a:ext cx="104241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2300" b="1">
                <a:solidFill>
                  <a:srgbClr val="0F172A"/>
                </a:solidFill>
              </a:rPr>
              <a:t>Question finale : peut-on construire un outil de simulation simple, lisible et défendable pour comparer l'impact de plusieurs scénarios de fermeture ?</a:t>
            </a:r>
            <a:endParaRPr lang="fr-FR"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3000" b="1">
                <a:solidFill>
                  <a:srgbClr val="0F172A"/>
                </a:solidFill>
              </a:rPr>
              <a:t>Données utilisées</a:t>
            </a:r>
            <a:endParaRPr lang="fr-FR" sz="3000"/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400" b="0">
                <a:solidFill>
                  <a:srgbClr val="64748B"/>
                </a:solidFill>
              </a:rPr>
              <a:t>Dataset PortWatch : observations journalières de trafic maritime par chokepoint.</a:t>
            </a:r>
            <a:endParaRPr lang="fr-FR" sz="1400"/>
          </a:p>
        </p:txBody>
      </p:sp>
      <p:sp>
        <p:nvSpPr>
          <p:cNvPr id="4" name="TextBox 4"/>
          <p:cNvSpPr txBox="1"/>
          <p:nvPr/>
        </p:nvSpPr>
        <p:spPr>
          <a:xfrm>
            <a:off x="685800" y="1508760"/>
            <a:ext cx="566928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800" b="0">
                <a:solidFill>
                  <a:srgbClr val="1F2937"/>
                </a:solidFill>
              </a:rPr>
              <a:t>• 74 844 lignes observées</a:t>
            </a:r>
            <a:endParaRPr lang="fr-FR" sz="1800"/>
          </a:p>
          <a:p>
            <a:r>
              <a:rPr lang="fr-FR" sz="1800" b="0">
                <a:solidFill>
                  <a:srgbClr val="1F2937"/>
                </a:solidFill>
              </a:rPr>
              <a:t>• 28 chokepoints maritimes</a:t>
            </a:r>
            <a:endParaRPr lang="fr-FR" sz="1800"/>
          </a:p>
          <a:p>
            <a:r>
              <a:rPr lang="fr-FR" sz="1800" b="0">
                <a:solidFill>
                  <a:srgbClr val="1F2937"/>
                </a:solidFill>
              </a:rPr>
              <a:t>• Variables : trafic total, tankers, cargos, passagers, date et localisation</a:t>
            </a:r>
            <a:endParaRPr lang="fr-FR" sz="1800"/>
          </a:p>
          <a:p>
            <a:r>
              <a:rPr lang="fr-FR" sz="1800" b="0">
                <a:solidFill>
                  <a:srgbClr val="1F2937"/>
                </a:solidFill>
              </a:rPr>
              <a:t>• Détroit d'Ormuz inclus dans le dataset</a:t>
            </a:r>
            <a:endParaRPr lang="fr-FR" sz="1800"/>
          </a:p>
        </p:txBody>
      </p:sp>
      <p:sp>
        <p:nvSpPr>
          <p:cNvPr id="5" name="TextBox 5"/>
          <p:cNvSpPr txBox="1"/>
          <p:nvPr/>
        </p:nvSpPr>
        <p:spPr>
          <a:xfrm>
            <a:off x="6583680" y="1600200"/>
            <a:ext cx="493776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900" b="0">
                <a:solidFill>
                  <a:srgbClr val="1F2937"/>
                </a:solidFill>
              </a:rPr>
              <a:t>Pourquoi ce dataset est pertinent ?</a:t>
            </a:r>
            <a:endParaRPr lang="fr-FR" sz="1900"/>
          </a:p>
          <a:p>
            <a:r>
              <a:rPr lang="fr-FR" sz="1900" b="0">
                <a:solidFill>
                  <a:srgbClr val="1F2937"/>
                </a:solidFill>
              </a:rPr>
              <a:t/>
            </a:r>
            <a:endParaRPr lang="fr-FR" sz="1900"/>
          </a:p>
          <a:p>
            <a:r>
              <a:rPr lang="fr-FR" sz="1900" b="0">
                <a:solidFill>
                  <a:srgbClr val="1F2937"/>
                </a:solidFill>
              </a:rPr>
              <a:t>Il permet d'étudier un impact maritime réel, sans passer par les marchés financiers.</a:t>
            </a:r>
            <a:endParaRPr lang="fr-FR" sz="1900"/>
          </a:p>
          <a:p>
            <a:r>
              <a:rPr lang="fr-FR" sz="1900" b="0">
                <a:solidFill>
                  <a:srgbClr val="1F2937"/>
                </a:solidFill>
              </a:rPr>
              <a:t/>
            </a:r>
            <a:endParaRPr lang="fr-FR" sz="1900"/>
          </a:p>
          <a:p>
            <a:r>
              <a:rPr lang="fr-FR" sz="1900" b="0">
                <a:solidFill>
                  <a:srgbClr val="1F2937"/>
                </a:solidFill>
              </a:rPr>
              <a:t>La donnée AIS donne une mesure opérationnelle : nombre de navires observés par jour.</a:t>
            </a:r>
            <a:endParaRPr lang="fr-FR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3000" b="1">
                <a:solidFill>
                  <a:srgbClr val="0F172A"/>
                </a:solidFill>
              </a:rPr>
              <a:t>Pipeline du projet</a:t>
            </a:r>
            <a:endParaRPr lang="fr-FR" sz="3000"/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400" b="0">
                <a:solidFill>
                  <a:srgbClr val="64748B"/>
                </a:solidFill>
              </a:rPr>
              <a:t>Du dataset brut vers un outil de scoring, de prévision et de simulation.</a:t>
            </a:r>
            <a:endParaRPr lang="fr-FR" sz="1400"/>
          </a:p>
        </p:txBody>
      </p:sp>
      <p:sp>
        <p:nvSpPr>
          <p:cNvPr id="4" name="TextBox 4"/>
          <p:cNvSpPr txBox="1"/>
          <p:nvPr/>
        </p:nvSpPr>
        <p:spPr>
          <a:xfrm>
            <a:off x="822960" y="1508760"/>
            <a:ext cx="10607040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900" b="0">
                <a:solidFill>
                  <a:srgbClr val="1F2937"/>
                </a:solidFill>
              </a:rPr>
              <a:t>1. Nettoyage et agrégation des séries journalières</a:t>
            </a:r>
            <a:endParaRPr lang="fr-FR" sz="1900"/>
          </a:p>
          <a:p>
            <a:r>
              <a:rPr lang="fr-FR" sz="1900" b="0">
                <a:solidFill>
                  <a:srgbClr val="1F2937"/>
                </a:solidFill>
              </a:rPr>
              <a:t>2. Construction d'indicateurs : volume moyen, part de tankers, volatilité, dépendance au trafic</a:t>
            </a:r>
            <a:endParaRPr lang="fr-FR" sz="1900"/>
          </a:p>
          <a:p>
            <a:r>
              <a:rPr lang="fr-FR" sz="1900" b="0">
                <a:solidFill>
                  <a:srgbClr val="1F2937"/>
                </a:solidFill>
              </a:rPr>
              <a:t>3. Score de criticité pour classer les détroits</a:t>
            </a:r>
            <a:endParaRPr lang="fr-FR" sz="1900"/>
          </a:p>
          <a:p>
            <a:r>
              <a:rPr lang="fr-FR" sz="1900" b="0">
                <a:solidFill>
                  <a:srgbClr val="1F2937"/>
                </a:solidFill>
              </a:rPr>
              <a:t>4. Modèles ML pour reproduire les classes de criticité</a:t>
            </a:r>
            <a:endParaRPr lang="fr-FR" sz="1900"/>
          </a:p>
          <a:p>
            <a:r>
              <a:rPr lang="fr-FR" sz="1900" b="0">
                <a:solidFill>
                  <a:srgbClr val="1F2937"/>
                </a:solidFill>
              </a:rPr>
              <a:t>5. SARIMAX pour prévoir le trafic normal</a:t>
            </a:r>
            <a:endParaRPr lang="fr-FR" sz="1900"/>
          </a:p>
          <a:p>
            <a:r>
              <a:rPr lang="fr-FR" sz="1900" b="0">
                <a:solidFill>
                  <a:srgbClr val="1F2937"/>
                </a:solidFill>
              </a:rPr>
              <a:t>6. Simulation de fermeture : trafic fermé à zéro + redistribution partielle vers alternatives plausibles</a:t>
            </a:r>
            <a:endParaRPr lang="fr-FR" sz="1900"/>
          </a:p>
        </p:txBody>
      </p:sp>
      <p:sp>
        <p:nvSpPr>
          <p:cNvPr id="5" name="TextBox 5"/>
          <p:cNvSpPr txBox="1"/>
          <p:nvPr/>
        </p:nvSpPr>
        <p:spPr>
          <a:xfrm>
            <a:off x="822960" y="5532120"/>
            <a:ext cx="10241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600" b="1">
                <a:solidFill>
                  <a:srgbClr val="334155"/>
                </a:solidFill>
              </a:rPr>
              <a:t>Le projet ne prédit pas chaque navire individuellement : il estime des effets agrégés, plus robustes pour une présentation.</a:t>
            </a:r>
            <a:endParaRPr lang="fr-FR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3000" b="1">
                <a:solidFill>
                  <a:srgbClr val="0F172A"/>
                </a:solidFill>
              </a:rPr>
              <a:t>Quels détroits ressortent ?</a:t>
            </a:r>
            <a:endParaRPr lang="fr-FR" sz="3000"/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400" b="0">
                <a:solidFill>
                  <a:srgbClr val="64748B"/>
                </a:solidFill>
              </a:rPr>
              <a:t>Classement par score de criticité construit à partir du volume et du rôle stratégique.</a:t>
            </a:r>
            <a:endParaRPr lang="fr-FR" sz="1400"/>
          </a:p>
        </p:txBody>
      </p:sp>
      <p:sp>
        <p:nvSpPr>
          <p:cNvPr id="4" name="TextBox 4"/>
          <p:cNvSpPr txBox="1"/>
          <p:nvPr/>
        </p:nvSpPr>
        <p:spPr>
          <a:xfrm>
            <a:off x="822960" y="1417320"/>
            <a:ext cx="10607040" cy="42062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800" b="0">
                <a:solidFill>
                  <a:srgbClr val="1F2937"/>
                </a:solidFill>
              </a:rPr>
              <a:t>1. Malacca Strait : score 81.5 | 196.9 navires/jour | 75.3 tankers/jour</a:t>
            </a:r>
            <a:endParaRPr lang="fr-FR" sz="1800"/>
          </a:p>
          <a:p>
            <a:r>
              <a:rPr lang="fr-FR" sz="1800" b="0">
                <a:solidFill>
                  <a:srgbClr val="1F2937"/>
                </a:solidFill>
              </a:rPr>
              <a:t>2. Taiwan Strait : score 65.5 | 241.4 navires/jour | 55.4 tankers/jour</a:t>
            </a:r>
            <a:endParaRPr lang="fr-FR" sz="1800"/>
          </a:p>
          <a:p>
            <a:r>
              <a:rPr lang="fr-FR" sz="1800" b="0">
                <a:solidFill>
                  <a:srgbClr val="1F2937"/>
                </a:solidFill>
              </a:rPr>
              <a:t>3. Strait of Hormuz : score 58.4 | 87.1 navires/jour | 52.2 tankers/jour</a:t>
            </a:r>
            <a:endParaRPr lang="fr-FR" sz="1800"/>
          </a:p>
          <a:p>
            <a:r>
              <a:rPr lang="fr-FR" sz="1800" b="0">
                <a:solidFill>
                  <a:srgbClr val="1F2937"/>
                </a:solidFill>
              </a:rPr>
              <a:t>4. Bohai Strait : score 58.1 | 175.0 navires/jour | 36.4 tankers/jour</a:t>
            </a:r>
            <a:endParaRPr lang="fr-FR" sz="1800"/>
          </a:p>
          <a:p>
            <a:r>
              <a:rPr lang="fr-FR" sz="1800" b="0">
                <a:solidFill>
                  <a:srgbClr val="1F2937"/>
                </a:solidFill>
              </a:rPr>
              <a:t>5. Korea Strait : score 56.0 | 223.2 navires/jour | 61.7 tankers/jour</a:t>
            </a:r>
            <a:endParaRPr lang="fr-FR" sz="1800"/>
          </a:p>
          <a:p>
            <a:r>
              <a:rPr lang="fr-FR" sz="1800" b="0">
                <a:solidFill>
                  <a:srgbClr val="1F2937"/>
                </a:solidFill>
              </a:rPr>
              <a:t/>
            </a:r>
            <a:endParaRPr lang="fr-FR" sz="1800"/>
          </a:p>
          <a:p>
            <a:r>
              <a:rPr lang="fr-FR" sz="1800" b="0">
                <a:solidFill>
                  <a:srgbClr val="1F2937"/>
                </a:solidFill>
              </a:rPr>
              <a:t>Lecture : Ormuz n'est pas le premier en volume total, mais il ressort très haut grâce au poids des tankers.</a:t>
            </a:r>
            <a:endParaRPr lang="fr-FR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3000" b="1">
                <a:solidFill>
                  <a:srgbClr val="0F172A"/>
                </a:solidFill>
              </a:rPr>
              <a:t>Fiabilité temporelle</a:t>
            </a:r>
            <a:endParaRPr lang="fr-FR" sz="3000"/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400" b="0">
                <a:solidFill>
                  <a:srgbClr val="64748B"/>
                </a:solidFill>
              </a:rPr>
              <a:t>SARIMAX sert à prévoir le trafic normal avant d'appliquer un choc de fermeture.</a:t>
            </a:r>
            <a:endParaRPr lang="fr-FR" sz="1400"/>
          </a:p>
        </p:txBody>
      </p:sp>
      <p:pic>
        <p:nvPicPr>
          <p:cNvPr id="4" name="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492240" cy="420624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360920" y="1417320"/>
            <a:ext cx="4297680" cy="3977639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700" b="0">
                <a:solidFill>
                  <a:srgbClr val="1F2937"/>
                </a:solidFill>
              </a:rPr>
              <a:t>Résultat de backtest :</a:t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/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>SARIMAX réduit l'erreur MAE d'environ 27 % en moyenne par rapport à la baseline analog.</a:t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/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>Sur 90 jours, Malacca passe de 21.7 à 15.5 navires/jour d'erreur moyenne.</a:t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/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>Conclusion : le modèle capte mieux le niveau normal et la saisonnalité hebdomadaire.</a:t>
            </a:r>
            <a:endParaRPr lang="fr-FR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3000" b="1">
                <a:solidFill>
                  <a:srgbClr val="0F172A"/>
                </a:solidFill>
              </a:rPr>
              <a:t>Scénario 1 : fermeture de Malacca</a:t>
            </a:r>
            <a:endParaRPr lang="fr-FR" sz="3000"/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400" b="0">
                <a:solidFill>
                  <a:srgbClr val="64748B"/>
                </a:solidFill>
              </a:rPr>
              <a:t>Un choc sur Malacca touche un détroit à très fort volume et très forte intensité tanker.</a:t>
            </a:r>
            <a:endParaRPr lang="fr-FR" sz="1400"/>
          </a:p>
        </p:txBody>
      </p:sp>
      <p:pic>
        <p:nvPicPr>
          <p:cNvPr id="4" name="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315200" cy="498348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046720" y="1508760"/>
            <a:ext cx="3657600" cy="429768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700" b="0">
                <a:solidFill>
                  <a:srgbClr val="1F2937"/>
                </a:solidFill>
              </a:rPr>
              <a:t>Lecture du graphique :</a:t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/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>La ligne verticale marque le début de fermeture.</a:t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/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>Le trafic du détroit fermé tombe à zéro.</a:t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/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>Les autres courbes montrent les détroits réellement impactés dans la simulation focus.</a:t>
            </a:r>
            <a:endParaRPr lang="fr-FR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3000" b="1">
                <a:solidFill>
                  <a:srgbClr val="0F172A"/>
                </a:solidFill>
              </a:rPr>
              <a:t>Scénario 2 : fermeture d'Ormuz</a:t>
            </a:r>
            <a:endParaRPr lang="fr-FR" sz="3000"/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400" b="0">
                <a:solidFill>
                  <a:srgbClr val="64748B"/>
                </a:solidFill>
              </a:rPr>
              <a:t>Ormuz est moins volumineux que Malacca, mais beaucoup plus sensible pour l'énergie.</a:t>
            </a:r>
            <a:endParaRPr lang="fr-FR" sz="1400"/>
          </a:p>
        </p:txBody>
      </p:sp>
      <p:pic>
        <p:nvPicPr>
          <p:cNvPr id="4" name="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315200" cy="498348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046720" y="1417320"/>
            <a:ext cx="3657600" cy="44805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700" b="0">
                <a:solidFill>
                  <a:srgbClr val="1F2937"/>
                </a:solidFill>
              </a:rPr>
              <a:t>Point clé :</a:t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/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>La redistribution est volontairement limitée, car les alternatives maritimes crédibles à Ormuz sont faibles.</a:t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/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>C'est donc un scénario plus géopolitique que simplement logistique.</a:t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/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>À présenter comme un stress test, pas comme une prédiction parfaite.</a:t>
            </a:r>
            <a:endParaRPr lang="fr-FR"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3000" b="1">
                <a:solidFill>
                  <a:srgbClr val="0F172A"/>
                </a:solidFill>
              </a:rPr>
              <a:t>Scénario 3 : fermeture de Taiwan</a:t>
            </a:r>
            <a:endParaRPr lang="fr-FR" sz="3000"/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400" b="0">
                <a:solidFill>
                  <a:srgbClr val="64748B"/>
                </a:solidFill>
              </a:rPr>
              <a:t>Un détroit très fréquenté, au centre d'un espace régional déjà dense.</a:t>
            </a:r>
            <a:endParaRPr lang="fr-FR" sz="1400"/>
          </a:p>
        </p:txBody>
      </p:sp>
      <p:pic>
        <p:nvPicPr>
          <p:cNvPr id="4" name="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315200" cy="498348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046720" y="1417320"/>
            <a:ext cx="3657600" cy="44805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700" b="0">
                <a:solidFill>
                  <a:srgbClr val="1F2937"/>
                </a:solidFill>
              </a:rPr>
              <a:t>Ce cas est utile pour les slides :</a:t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/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>Il montre mieux les effets locaux en Asie de l'Est.</a:t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/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>Les changements visibles concernent surtout les détroits proches ou connectés.</a:t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/>
            </a:r>
            <a:endParaRPr lang="fr-FR" sz="1700"/>
          </a:p>
          <a:p>
            <a:r>
              <a:rPr lang="fr-FR" sz="1700" b="0">
                <a:solidFill>
                  <a:srgbClr val="1F2937"/>
                </a:solidFill>
              </a:rPr>
              <a:t>Cela rend le projet concret : on observe où le choc se propage.</a:t>
            </a:r>
            <a:endParaRPr lang="fr-FR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3000" b="1">
                <a:solidFill>
                  <a:srgbClr val="0F172A"/>
                </a:solidFill>
              </a:rPr>
              <a:t>Conclusion</a:t>
            </a:r>
            <a:endParaRPr lang="fr-FR" sz="3000"/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400" b="0">
                <a:solidFill>
                  <a:srgbClr val="64748B"/>
                </a:solidFill>
              </a:rPr>
              <a:t>Le projet produit un outil concret de comparaison des fermetures de détroits.</a:t>
            </a:r>
            <a:endParaRPr lang="fr-FR" sz="1400"/>
          </a:p>
        </p:txBody>
      </p:sp>
      <p:sp>
        <p:nvSpPr>
          <p:cNvPr id="4" name="TextBox 4"/>
          <p:cNvSpPr txBox="1"/>
          <p:nvPr/>
        </p:nvSpPr>
        <p:spPr>
          <a:xfrm>
            <a:off x="731520" y="1417320"/>
            <a:ext cx="1060704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800" b="0">
                <a:solidFill>
                  <a:srgbClr val="1F2937"/>
                </a:solidFill>
              </a:rPr>
              <a:t>• Les détroits les plus critiques ne sont pas seulement les plus fréquentés : le type de trafic compte.</a:t>
            </a:r>
            <a:endParaRPr lang="fr-FR" sz="1800"/>
          </a:p>
          <a:p>
            <a:r>
              <a:rPr lang="fr-FR" sz="1800" b="0">
                <a:solidFill>
                  <a:srgbClr val="1F2937"/>
                </a:solidFill>
              </a:rPr>
              <a:t>• SARIMAX améliore la prévision du trafic normal et donne une baseline défendable.</a:t>
            </a:r>
            <a:endParaRPr lang="fr-FR" sz="1800"/>
          </a:p>
          <a:p>
            <a:r>
              <a:rPr lang="fr-FR" sz="1800" b="0">
                <a:solidFill>
                  <a:srgbClr val="1F2937"/>
                </a:solidFill>
              </a:rPr>
              <a:t>• Les fermetures simulées montrent surtout des effets régionaux, avec peu d'alternatives crédibles pour Ormuz.</a:t>
            </a:r>
            <a:endParaRPr lang="fr-FR" sz="1800"/>
          </a:p>
          <a:p>
            <a:r>
              <a:rPr lang="fr-FR" sz="1800" b="0">
                <a:solidFill>
                  <a:srgbClr val="1F2937"/>
                </a:solidFill>
              </a:rPr>
              <a:t>• Le livrable est tangible : classements, métriques, graphiques de scénario et application Streamlit.</a:t>
            </a:r>
            <a:endParaRPr lang="fr-FR" sz="1800"/>
          </a:p>
        </p:txBody>
      </p:sp>
      <p:sp>
        <p:nvSpPr>
          <p:cNvPr id="5" name="TextBox 5"/>
          <p:cNvSpPr txBox="1"/>
          <p:nvPr/>
        </p:nvSpPr>
        <p:spPr>
          <a:xfrm>
            <a:off x="777240" y="5166360"/>
            <a:ext cx="10241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fr-FR" sz="1800" b="1">
                <a:solidFill>
                  <a:srgbClr val="0F172A"/>
                </a:solidFill>
              </a:rPr>
              <a:t>Limite principale : les règles de redistribution sont une modélisation métier simplifiée. La prochaine étape serait d'intégrer les distances, routes AIS réelles et temps de détour.</a:t>
            </a:r>
            <a:endParaRPr lang="fr-FR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0F172A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DC2626"/>
      </a:accent3>
      <a:accent4>
        <a:srgbClr val="F59E0B"/>
      </a:accent4>
      <a:accent5>
        <a:srgbClr val="7C3AED"/>
      </a:accent5>
      <a:accent6>
        <a:srgbClr val="475569"/>
      </a:accent6>
      <a:hlink>
        <a:srgbClr val="2563EB"/>
      </a:hlink>
      <a:folHlink>
        <a:srgbClr val="7C3AED"/>
      </a:folHlink>
    </a:clrScheme>
    <a:fontScheme name="Simple">
      <a:majorFont>
        <a:latin typeface="Aptos Display"/>
      </a:majorFont>
      <a:minorFont>
        <a:latin typeface="Aptos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Fermeture des détroits maritimes</dc:title>
  <dc:creator>Matheo Vicente</dc:creator>
  <cp:lastModifiedBy>Codex</cp:lastModifiedBy>
</cp:coreProperties>
</file>